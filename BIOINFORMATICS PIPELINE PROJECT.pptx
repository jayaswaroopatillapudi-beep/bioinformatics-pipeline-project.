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5" r:id="rId10"/>
    <p:sldId id="269" r:id="rId11"/>
    <p:sldId id="267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595" autoAdjust="0"/>
  </p:normalViewPr>
  <p:slideViewPr>
    <p:cSldViewPr snapToGrid="0">
      <p:cViewPr varScale="1">
        <p:scale>
          <a:sx n="82" d="100"/>
          <a:sy n="82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8655-BB40-388F-CE26-C33E5FFE2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0DC18-F285-0328-A284-6228C1CD7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E12CE-2442-FB70-F1D0-B82EFEEF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16CE6-7B47-A92E-9117-44B6402A4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440D0-934F-80C6-B82D-FA79D4BB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451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2392B-0457-010B-6639-4894DAD4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2579A-DFBA-5AC1-8B06-95C25E54E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95CCE-FE58-3070-01B5-94758B6B7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83AE9-A105-DC86-E829-F48C04DC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C6752-1DFD-0871-D7B4-8677615F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97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1AAF-EB59-2D9D-62FB-EF45C4B6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19011-2A21-7CAC-577B-B96A307D5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232FC-496A-5AB9-4DA7-65A94D23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08B94-63CF-2787-CDE0-F5B1FDC3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90A16-AF75-AB1B-184C-CF0CD340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63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D7514-B8DE-A47B-D3F8-71E1D582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0DCAA-6824-570F-E2E8-25A4E2F95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7A9DF-77F1-6E6B-C33F-5A4890CD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F0FA2-75F1-52BE-E3E5-DB981C673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7B244-032A-A3BD-8957-00D5C9E89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DA669-1A08-4562-D718-16F7228B1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59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B276-807E-7318-08A8-7D8837449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1424E-6B6D-415D-F422-8DD31172C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EB05C-B7F5-DB6E-60C4-7CCD5DE3E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26D06-4ECE-CCC0-31D0-626DC7D1A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63AA8A-C0B4-5D7A-7505-638521001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3B13B-A31C-EDC2-FF5F-7A164C55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B10A3C-517E-B709-EF6C-602C06B5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D2202-E981-8B1E-BFA3-71F67775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75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1571-DA2B-023E-2BCB-705DB8E6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0D2D1F-B60B-7F15-2CBC-50402E7C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E0869-A3EF-B1B8-2B3A-9D4A6E8B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645A-97DA-218B-9782-E05D47AB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02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F8E072-DE85-83C9-3DF8-62C38EEB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DB4A3-CA43-E67C-D8C4-DD228399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05097-326D-41D4-BCBD-3657E266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002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36FB2-8626-6089-54BA-65C9F087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A0740-B85E-1730-F84A-AF2F16359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1D8B83-1CF5-4480-8718-96D50C4EB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CB9ED-D484-AB52-2267-B99852A08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1BF43-09A7-F4B1-F42C-6606FA329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0AD25-9724-2826-E1C1-E0D8C5D6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941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B17EE-BD00-88FE-D25C-C60D6189F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D42B78-E0D1-438B-99ED-8AD151DB4C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CF451-693E-3AC4-0F33-9782E004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A5C36-3C3B-C956-46DD-BEC1512E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0D4FC-AF22-9E5B-6BF7-3F021629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F664B-56C6-FD9B-594D-D5D4EFF0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31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5194E-E7EF-672D-DDCA-65F87632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0D3A1-F830-0519-687C-442349EF6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50FD0-B018-B2FD-2FB4-06A5CE67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0F49-3657-076C-B64D-C0F4D413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FBFF2-E47B-D39E-4089-E7CCDE2E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4457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64927-0780-4954-5A30-F6D451431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6CBB5-6AB0-A490-1461-AD1304663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36706-0DF5-1CC8-0BBC-42B423DF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11FED-399D-122C-8E1E-A6B7B726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6772F-458C-7151-0001-48E1F7D6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792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086A6-CECF-E5CD-B84E-84D7A7187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8E36D-D695-A80D-DD32-FEA5E3B68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D972D-BF7D-EF1C-2737-02ACEF2C0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C2D8BB-9E57-4F23-B8E8-03A12CD52297}" type="datetimeFigureOut">
              <a:rPr lang="en-IN" smtClean="0"/>
              <a:t>02-02-2026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B5E32-923D-37E6-272A-D369EE10A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A875E-01A4-F28C-5200-DE1A58934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CBF89-6686-4D1A-A332-23ACFACDD97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88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7F791B-A245-D770-236E-EA790E9C9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/>
              <a:t>IN-SILICO IDENTIFICATION AND FUNCTIONAL CHARACTERIZATION</a:t>
            </a:r>
            <a:br>
              <a:rPr lang="en-IN" sz="2800" dirty="0"/>
            </a:br>
            <a:r>
              <a:rPr lang="en-IN" sz="2800" dirty="0"/>
              <a:t>OF A TARGET  PROTEIN USING SEQUENCE   ANALYSIS AND HOMOLOGY-BASED ANNOTATION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5B0E2-C1B0-D3E7-9B3D-B20DBD56F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  <a:buNone/>
            </a:pPr>
            <a:endParaRPr lang="en-I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B5C67-6521-6779-610F-C1017FC3B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9B4CD2-7774-779B-BABE-899E2A325679}"/>
              </a:ext>
            </a:extLst>
          </p:cNvPr>
          <p:cNvSpPr/>
          <p:nvPr/>
        </p:nvSpPr>
        <p:spPr>
          <a:xfrm>
            <a:off x="521110" y="275303"/>
            <a:ext cx="11090787" cy="62175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D9D649-02C0-2944-C350-FBB411235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39F50-C198-336B-98FA-917E63BDF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1" y="-44911"/>
            <a:ext cx="12192000" cy="6858000"/>
          </a:xfrm>
          <a:prstGeom prst="rect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  <a:effectLst>
            <a:innerShdw blurRad="63500" dist="50800">
              <a:prstClr val="black">
                <a:alpha val="50000"/>
              </a:prstClr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73491F-7830-BBD5-0D87-AB10367C3845}"/>
              </a:ext>
            </a:extLst>
          </p:cNvPr>
          <p:cNvSpPr txBox="1"/>
          <p:nvPr/>
        </p:nvSpPr>
        <p:spPr>
          <a:xfrm>
            <a:off x="133538" y="2183760"/>
            <a:ext cx="119560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sz="2400" b="0" i="0" u="none" strike="noStrike" kern="1200" cap="all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j-ea"/>
                <a:cs typeface="+mj-cs"/>
              </a:rPr>
              <a:t>In-silico Identification and Functional Characterization of a Target Gene/Protein Using Sequence Analysis and Homology-Based Annotation</a:t>
            </a:r>
            <a:endParaRPr lang="en-IN" sz="2400" dirty="0"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B798B-A0E5-712C-2D86-2DED2659DC3B}"/>
              </a:ext>
            </a:extLst>
          </p:cNvPr>
          <p:cNvSpPr txBox="1"/>
          <p:nvPr/>
        </p:nvSpPr>
        <p:spPr>
          <a:xfrm>
            <a:off x="1184988" y="531845"/>
            <a:ext cx="9853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BIOINFORMATICS PIPE LINE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704F1-7B9E-69E8-1A24-427D439B166B}"/>
              </a:ext>
            </a:extLst>
          </p:cNvPr>
          <p:cNvSpPr txBox="1"/>
          <p:nvPr/>
        </p:nvSpPr>
        <p:spPr>
          <a:xfrm>
            <a:off x="5906278" y="4777273"/>
            <a:ext cx="467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86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FE49A0-E363-32FA-859E-FDC5D178A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" y="0"/>
            <a:ext cx="121731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F1C130-2D00-E8ED-591E-70DEB97A48C2}"/>
              </a:ext>
            </a:extLst>
          </p:cNvPr>
          <p:cNvSpPr txBox="1"/>
          <p:nvPr/>
        </p:nvSpPr>
        <p:spPr>
          <a:xfrm>
            <a:off x="307910" y="382555"/>
            <a:ext cx="1165393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STEPS IN THE BIOINFORMATICS PIPE LINE PROJECT</a:t>
            </a:r>
          </a:p>
          <a:p>
            <a:pPr algn="ctr"/>
            <a:endParaRPr lang="en-IN" dirty="0">
              <a:solidFill>
                <a:schemeClr val="bg2"/>
              </a:solidFill>
            </a:endParaRPr>
          </a:p>
          <a:p>
            <a:pPr algn="ctr"/>
            <a:endParaRPr lang="en-IN" dirty="0">
              <a:solidFill>
                <a:schemeClr val="bg2"/>
              </a:solidFill>
            </a:endParaRPr>
          </a:p>
          <a:p>
            <a:pPr algn="ctr"/>
            <a:endParaRPr lang="en-IN" dirty="0">
              <a:solidFill>
                <a:schemeClr val="bg2"/>
              </a:solidFill>
            </a:endParaRPr>
          </a:p>
          <a:p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1. Sequence retrieval</a:t>
            </a:r>
          </a:p>
          <a:p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2.Sequence quality analysis</a:t>
            </a:r>
          </a:p>
          <a:p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3.Sequence filtering and validation</a:t>
            </a:r>
          </a:p>
          <a:p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4.Homology search (BLAST)</a:t>
            </a:r>
          </a:p>
          <a:p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5.Functional annotation</a:t>
            </a:r>
          </a:p>
          <a:p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6.Biological interpretation</a:t>
            </a:r>
          </a:p>
          <a:p>
            <a:pPr algn="ctr"/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0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C4F62-902B-05D6-7503-73228449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5637" y="-167149"/>
            <a:ext cx="12447638" cy="9453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CB9C9C-C4FF-52D2-0F1A-82FF4A68A3A8}"/>
              </a:ext>
            </a:extLst>
          </p:cNvPr>
          <p:cNvSpPr txBox="1"/>
          <p:nvPr/>
        </p:nvSpPr>
        <p:spPr>
          <a:xfrm>
            <a:off x="9331" y="279918"/>
            <a:ext cx="11877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2"/>
                </a:solidFill>
                <a:latin typeface="Garamond" panose="02020404030301010803" pitchFamily="18" charset="0"/>
              </a:rPr>
              <a:t>BIOLOGICAL SEQUENCE SELECTION</a:t>
            </a:r>
          </a:p>
          <a:p>
            <a:pPr algn="ctr"/>
            <a:endParaRPr lang="en-US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For this project a Disease-related protein is selected.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The hypothetical protein is taken for the uniport data base.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The sequence of interest (HTT PROTEIN)  is linked to Huntington’s disease.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The sequence of interest for uniport data base is downloaded in the form of the FASTA File format.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algn="ctr"/>
            <a:endParaRPr lang="en-IN" dirty="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7AC53-D42B-42C4-4D80-57C10F871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84" y="3060440"/>
            <a:ext cx="10097729" cy="367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14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C99FC-130F-8D2D-379B-751D7E97F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" y="0"/>
            <a:ext cx="121731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6DA7A1-7E23-FC75-D6C0-D06D46842200}"/>
              </a:ext>
            </a:extLst>
          </p:cNvPr>
          <p:cNvSpPr txBox="1"/>
          <p:nvPr/>
        </p:nvSpPr>
        <p:spPr>
          <a:xfrm>
            <a:off x="289249" y="261257"/>
            <a:ext cx="1181255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2"/>
                </a:solidFill>
                <a:latin typeface="Garamond" panose="02020404030301010803" pitchFamily="18" charset="0"/>
              </a:rPr>
              <a:t>SEQUENCE QUALITY AND BASIC ANALYSIS</a:t>
            </a:r>
          </a:p>
          <a:p>
            <a:pPr algn="ctr"/>
            <a:endParaRPr lang="en-US" sz="3600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The Bio python is used for the sequences  quality and basic analysis.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From uniport the  </a:t>
            </a:r>
            <a:r>
              <a:rPr lang="en-US" sz="2400" dirty="0" err="1">
                <a:solidFill>
                  <a:schemeClr val="bg2"/>
                </a:solidFill>
                <a:latin typeface="Garamond" panose="02020404030301010803" pitchFamily="18" charset="0"/>
              </a:rPr>
              <a:t>fasta</a:t>
            </a: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-format file is imported to Bio python through “</a:t>
            </a:r>
            <a:r>
              <a:rPr lang="en-US" sz="2400" dirty="0" err="1">
                <a:solidFill>
                  <a:schemeClr val="bg2"/>
                </a:solidFill>
                <a:latin typeface="Garamond" panose="02020404030301010803" pitchFamily="18" charset="0"/>
              </a:rPr>
              <a:t>SeqIO</a:t>
            </a: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”.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Here  - Length, amino acid composition(count) and percentage  are calculated.</a:t>
            </a:r>
          </a:p>
          <a:p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pPr algn="ctr"/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A05546-F4F8-649A-0EB6-8B65A901F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453" y="2640562"/>
            <a:ext cx="7315200" cy="40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65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E8601-B170-36CB-6650-54AC04FE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85C4AD-7FB3-5663-22E8-B2E6F008F4AE}"/>
              </a:ext>
            </a:extLst>
          </p:cNvPr>
          <p:cNvSpPr txBox="1"/>
          <p:nvPr/>
        </p:nvSpPr>
        <p:spPr>
          <a:xfrm>
            <a:off x="363894" y="307910"/>
            <a:ext cx="1146421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SEQUENCES FLITERING AND VALIDATION</a:t>
            </a:r>
          </a:p>
          <a:p>
            <a:pPr algn="ctr"/>
            <a:endParaRPr lang="en-IN" sz="3600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algn="ctr"/>
            <a:endParaRPr lang="en-IN" sz="3600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2"/>
                </a:solidFill>
                <a:latin typeface="Garamond" panose="02020404030301010803" pitchFamily="18" charset="0"/>
              </a:rPr>
              <a:t>The retrieved HTT protein  sequence was validated by checking its source database (uniport) sequence length and </a:t>
            </a:r>
            <a:r>
              <a:rPr lang="en-IN" sz="3200" dirty="0" err="1">
                <a:solidFill>
                  <a:schemeClr val="bg2"/>
                </a:solidFill>
                <a:latin typeface="Garamond" panose="02020404030301010803" pitchFamily="18" charset="0"/>
              </a:rPr>
              <a:t>fasta</a:t>
            </a:r>
            <a:r>
              <a:rPr lang="en-IN" sz="3200" dirty="0">
                <a:solidFill>
                  <a:schemeClr val="bg2"/>
                </a:solidFill>
                <a:latin typeface="Garamond" panose="02020404030301010803" pitchFamily="18" charset="0"/>
              </a:rPr>
              <a:t> format correctness . The sequence contained only standard amino acids and showed no ambiguous resides ,confirming its suitability for down stream and bioinformatics analysis .</a:t>
            </a:r>
          </a:p>
        </p:txBody>
      </p:sp>
    </p:spTree>
    <p:extLst>
      <p:ext uri="{BB962C8B-B14F-4D97-AF65-F5344CB8AC3E}">
        <p14:creationId xmlns:p14="http://schemas.microsoft.com/office/powerpoint/2010/main" val="256756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19BA89-52C3-BD9C-DABD-E81F5C73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0" y="0"/>
            <a:ext cx="121731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9C13AD-69E5-FFB3-FA1B-EE6D5E62D925}"/>
              </a:ext>
            </a:extLst>
          </p:cNvPr>
          <p:cNvSpPr txBox="1"/>
          <p:nvPr/>
        </p:nvSpPr>
        <p:spPr>
          <a:xfrm>
            <a:off x="195943" y="270588"/>
            <a:ext cx="118592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HOMOLOGY SEARCH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BLAST compares our HTT sequence with other sequences in the NCBI database to find similar proteins through NCBIWWW module.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We use-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 The blast-p – protein vs protein comparison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NCBI online Blast –Bio-python .</a:t>
            </a:r>
          </a:p>
          <a:p>
            <a:pPr algn="ctr"/>
            <a:endParaRPr lang="en-IN" sz="2400" dirty="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FA303E-70E3-CE4D-7A98-8ED06FBC8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526" y="3029986"/>
            <a:ext cx="5896947" cy="355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3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E288D-AFF7-1116-9612-F4D78A1A4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" y="37323"/>
            <a:ext cx="121731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DB060-16BC-16DB-11B2-0B31CBBA200E}"/>
              </a:ext>
            </a:extLst>
          </p:cNvPr>
          <p:cNvSpPr txBox="1"/>
          <p:nvPr/>
        </p:nvSpPr>
        <p:spPr>
          <a:xfrm>
            <a:off x="465094" y="401217"/>
            <a:ext cx="1128071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FUNCTIONAL ANNOTATION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By  using blast ,a xml format file created from the code to perform the annotation, the similar sequences are obtained and in which contains the alignments , “</a:t>
            </a:r>
            <a:r>
              <a:rPr lang="en-IN" sz="2400" dirty="0" err="1">
                <a:solidFill>
                  <a:schemeClr val="bg2"/>
                </a:solidFill>
                <a:latin typeface="Garamond" panose="02020404030301010803" pitchFamily="18" charset="0"/>
              </a:rPr>
              <a:t>hsp</a:t>
            </a: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” of our HTT protein, Hits and e –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The closest sequence is:    The hit with highest identity.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Lowest E value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High score.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Usually :  1.chimpanzee HTT , 2.Mouse HTT , 2.Rat HTT.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These indicates strong evolutionary conservation.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The conserved regions are parts of the sequence –change very little over evolution , indicates important functional domains.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Close species –high similarity.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Distant species – lower similarity.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This helps in phylogenetic understanding.</a:t>
            </a:r>
          </a:p>
          <a:p>
            <a:endParaRPr lang="en-IN" sz="2400" dirty="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49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4C62D-4BA7-505A-A6D6-70DACB4036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987AA4-ABF7-5644-775F-3AB86D7A6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70" y="1744824"/>
            <a:ext cx="9563879" cy="47502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3144B-63AA-FA15-A6E0-CB93CCF7B358}"/>
              </a:ext>
            </a:extLst>
          </p:cNvPr>
          <p:cNvSpPr txBox="1"/>
          <p:nvPr/>
        </p:nvSpPr>
        <p:spPr>
          <a:xfrm>
            <a:off x="634482" y="382555"/>
            <a:ext cx="11206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2"/>
                </a:solidFill>
                <a:latin typeface="Garamond" panose="02020404030301010803" pitchFamily="18" charset="0"/>
              </a:rPr>
              <a:t>There are 50 alignments from blast.xml file.</a:t>
            </a:r>
          </a:p>
          <a:p>
            <a:pPr marL="457200" indent="-457200" algn="ctr">
              <a:buFont typeface="Wingdings" panose="05000000000000000000" pitchFamily="2" charset="2"/>
              <a:buChar char="v"/>
            </a:pPr>
            <a:endParaRPr lang="en-IN" sz="2800" dirty="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878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9B1E8A-A5C2-5DFC-9921-45ADD95E8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024C9E-078B-1769-3C3E-EC16F0DFBB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358C8A-A0C1-FF16-8E2B-69ADC3EDCB48}"/>
              </a:ext>
            </a:extLst>
          </p:cNvPr>
          <p:cNvSpPr txBox="1"/>
          <p:nvPr/>
        </p:nvSpPr>
        <p:spPr>
          <a:xfrm>
            <a:off x="643812" y="298580"/>
            <a:ext cx="1066489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2"/>
                </a:solidFill>
                <a:latin typeface="Garamond" panose="02020404030301010803" pitchFamily="18" charset="0"/>
              </a:rPr>
              <a:t>From the blast.xml file by  using NCBIXML module the title, length of first alignment.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2"/>
                </a:solidFill>
                <a:latin typeface="Garamond" panose="02020404030301010803" pitchFamily="18" charset="0"/>
              </a:rPr>
              <a:t>First HSP is printed which represents  the high-scoring segment pair .</a:t>
            </a:r>
          </a:p>
          <a:p>
            <a:endParaRPr lang="en-IN" dirty="0">
              <a:solidFill>
                <a:schemeClr val="bg2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25CF9A-461C-B8AA-8EC9-365C3F823D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486" y="2320413"/>
            <a:ext cx="8126963" cy="42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55EB-877C-4E8E-A8BE-336A70B8D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2736D-BC39-C220-60DA-90D35F24CC6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B8D0D2-3E17-C028-1D90-D92A6D552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3" y="1390261"/>
            <a:ext cx="8733453" cy="52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F8A5DAB-7076-3433-EB7E-3E7037D7253F}"/>
              </a:ext>
            </a:extLst>
          </p:cNvPr>
          <p:cNvSpPr txBox="1"/>
          <p:nvPr/>
        </p:nvSpPr>
        <p:spPr>
          <a:xfrm>
            <a:off x="699796" y="270588"/>
            <a:ext cx="10347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QUERY SEQUENCES , MACHED SEQUENCES AND ALIGNMENT SEQ are printed .</a:t>
            </a:r>
          </a:p>
        </p:txBody>
      </p:sp>
    </p:spTree>
    <p:extLst>
      <p:ext uri="{BB962C8B-B14F-4D97-AF65-F5344CB8AC3E}">
        <p14:creationId xmlns:p14="http://schemas.microsoft.com/office/powerpoint/2010/main" val="77550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909B-CBE8-FBEA-7318-BA8690E9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BF590-7828-C111-9687-BE7E85511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" y="29839"/>
            <a:ext cx="121731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15ADE4-5ADA-A9A8-1010-C7A2C69D6410}"/>
              </a:ext>
            </a:extLst>
          </p:cNvPr>
          <p:cNvSpPr txBox="1"/>
          <p:nvPr/>
        </p:nvSpPr>
        <p:spPr>
          <a:xfrm>
            <a:off x="765110" y="438539"/>
            <a:ext cx="1064622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BIOLOGICAL INTERPRETATION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What does this sequence likely do?</a:t>
            </a:r>
          </a:p>
          <a:p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   T</a:t>
            </a: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his sequence codes for the Huntingtin protein, which is important for neuron survival, brain development, and cellular transport.</a:t>
            </a:r>
          </a:p>
          <a:p>
            <a:endParaRPr lang="en-US" sz="2400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Why they it so?</a:t>
            </a:r>
          </a:p>
          <a:p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 We think this because BLAST showed it matches known Huntingtin proteins that are already studied in neuroscience.</a:t>
            </a:r>
          </a:p>
          <a:p>
            <a:endParaRPr lang="en-US" sz="2400" dirty="0">
              <a:solidFill>
                <a:schemeClr val="bg2"/>
              </a:solidFill>
              <a:latin typeface="Garamond" panose="020204040303010108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  <a:latin typeface="Garamond" panose="02020404030301010803" pitchFamily="18" charset="0"/>
              </a:rPr>
              <a:t>Evidences support ….</a:t>
            </a:r>
          </a:p>
          <a:p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Evidence supporting this interpretation includes:</a:t>
            </a:r>
          </a:p>
          <a:p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1.High sequence similarity with validated Huntingtin proteins .</a:t>
            </a:r>
          </a:p>
          <a:p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2.Very low BLAST E-values (close to 0.0), indicating true homology.</a:t>
            </a:r>
          </a:p>
          <a:p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3.Conserved regions across mammals, suggesting functional importance.</a:t>
            </a:r>
          </a:p>
          <a:p>
            <a:r>
              <a:rPr lang="en-IN" sz="2400" dirty="0">
                <a:solidFill>
                  <a:schemeClr val="bg2"/>
                </a:solidFill>
                <a:latin typeface="Garamond" panose="02020404030301010803" pitchFamily="18" charset="0"/>
              </a:rPr>
              <a:t>4.UniProt and NCBI annotations linking HTT to neuronal processes and Huntington’s disease.</a:t>
            </a:r>
          </a:p>
        </p:txBody>
      </p:sp>
    </p:spTree>
    <p:extLst>
      <p:ext uri="{BB962C8B-B14F-4D97-AF65-F5344CB8AC3E}">
        <p14:creationId xmlns:p14="http://schemas.microsoft.com/office/powerpoint/2010/main" val="566062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C50ABB-EFBD-4A42-3190-5C0EEE949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3976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CB8982-0A6A-18A5-857F-047FD1DF7525}"/>
              </a:ext>
            </a:extLst>
          </p:cNvPr>
          <p:cNvSpPr txBox="1"/>
          <p:nvPr/>
        </p:nvSpPr>
        <p:spPr>
          <a:xfrm>
            <a:off x="1088470" y="2437083"/>
            <a:ext cx="108646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latin typeface="Garamond" panose="02020404030301010803" pitchFamily="18" charset="0"/>
              </a:rPr>
              <a:t>Therefore, the analyzed sequence is confidently identified as Huntingtin protein, with a biological role in neuronal health and disease Research. Its conservation across species highlights its essential cellular function and evolutionary importance.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E7888-7F91-57FC-AEE9-629D1F9E27AB}"/>
              </a:ext>
            </a:extLst>
          </p:cNvPr>
          <p:cNvSpPr txBox="1"/>
          <p:nvPr/>
        </p:nvSpPr>
        <p:spPr>
          <a:xfrm>
            <a:off x="668594" y="938230"/>
            <a:ext cx="10705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2"/>
                </a:solidFill>
                <a:latin typeface="Garamond" panose="02020404030301010803" pitchFamily="18" charset="0"/>
              </a:rPr>
              <a:t>CONCULSION</a:t>
            </a:r>
          </a:p>
        </p:txBody>
      </p:sp>
    </p:spTree>
    <p:extLst>
      <p:ext uri="{BB962C8B-B14F-4D97-AF65-F5344CB8AC3E}">
        <p14:creationId xmlns:p14="http://schemas.microsoft.com/office/powerpoint/2010/main" val="1915833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71B6EA-F329-41D6-185F-1D5D500D1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734DDA-E773-D897-F73F-2ECBF7EB50CF}"/>
              </a:ext>
            </a:extLst>
          </p:cNvPr>
          <p:cNvSpPr txBox="1"/>
          <p:nvPr/>
        </p:nvSpPr>
        <p:spPr>
          <a:xfrm>
            <a:off x="1091681" y="2640563"/>
            <a:ext cx="98437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3309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596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Garamond</vt:lpstr>
      <vt:lpstr>Wingdings</vt:lpstr>
      <vt:lpstr>Office Theme</vt:lpstr>
      <vt:lpstr>IN-SILICO IDENTIFICATION AND FUNCTIONAL CHARACTERIZATION OF A TARGET  PROTEIN USING SEQUENCE   ANALYSIS AND HOMOLOGY-BASED ANNOTATION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 swaroopa tillapudi</dc:creator>
  <cp:lastModifiedBy>jaya swaroopa tillapudi</cp:lastModifiedBy>
  <cp:revision>10</cp:revision>
  <dcterms:created xsi:type="dcterms:W3CDTF">2026-01-26T03:44:14Z</dcterms:created>
  <dcterms:modified xsi:type="dcterms:W3CDTF">2026-02-02T14:45:50Z</dcterms:modified>
</cp:coreProperties>
</file>